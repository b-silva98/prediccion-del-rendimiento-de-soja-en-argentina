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9D59E-7C78-4991-B173-AE65E22A34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1F6A0BD-031E-4D4E-BDFD-0F2C01FF1FFF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Superficie sembrada y cosechada.</a:t>
          </a:r>
          <a:endParaRPr lang="en-US" dirty="0"/>
        </a:p>
      </dgm:t>
    </dgm:pt>
    <dgm:pt modelId="{BF66BD30-BD09-4F8E-876D-F8BC43918E14}" type="parTrans" cxnId="{B0CA2EEE-727F-4A97-B44C-5FD2D320F879}">
      <dgm:prSet/>
      <dgm:spPr/>
      <dgm:t>
        <a:bodyPr/>
        <a:lstStyle/>
        <a:p>
          <a:endParaRPr lang="en-US"/>
        </a:p>
      </dgm:t>
    </dgm:pt>
    <dgm:pt modelId="{ABDE3B58-A996-4843-B88B-B7B77166FF49}" type="sibTrans" cxnId="{B0CA2EEE-727F-4A97-B44C-5FD2D320F879}">
      <dgm:prSet/>
      <dgm:spPr/>
      <dgm:t>
        <a:bodyPr/>
        <a:lstStyle/>
        <a:p>
          <a:endParaRPr lang="en-US"/>
        </a:p>
      </dgm:t>
    </dgm:pt>
    <dgm:pt modelId="{3CA9C1E3-6C68-4844-A9D4-DA627FBC8238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Producción total y rendimiento (kg/ha).</a:t>
          </a:r>
          <a:endParaRPr lang="en-US"/>
        </a:p>
      </dgm:t>
    </dgm:pt>
    <dgm:pt modelId="{FB2B2F15-4AA8-4FAA-B1CA-F52B7D7759A3}" type="parTrans" cxnId="{FD9B093F-5C60-4F39-8C51-3F646B54DF71}">
      <dgm:prSet/>
      <dgm:spPr/>
      <dgm:t>
        <a:bodyPr/>
        <a:lstStyle/>
        <a:p>
          <a:endParaRPr lang="en-US"/>
        </a:p>
      </dgm:t>
    </dgm:pt>
    <dgm:pt modelId="{668BDC98-2B48-40ED-92DC-90B5D5FA5AB4}" type="sibTrans" cxnId="{FD9B093F-5C60-4F39-8C51-3F646B54DF71}">
      <dgm:prSet/>
      <dgm:spPr/>
      <dgm:t>
        <a:bodyPr/>
        <a:lstStyle/>
        <a:p>
          <a:endParaRPr lang="en-US"/>
        </a:p>
      </dgm:t>
    </dgm:pt>
    <dgm:pt modelId="{6A739F0F-7694-4CF1-9B87-C3168111B359}">
      <dgm:prSet/>
      <dgm:spPr/>
      <dgm:t>
        <a:bodyPr/>
        <a:lstStyle/>
        <a:p>
          <a:pPr>
            <a:lnSpc>
              <a:spcPct val="100000"/>
            </a:lnSpc>
          </a:pPr>
          <a:r>
            <a:rPr lang="es-MX"/>
            <a:t>Esto busca mejorar la toma de decisiones en el sector agroindustrial, optimizando planificación, inversión y estrategias productivas.</a:t>
          </a:r>
          <a:endParaRPr lang="en-US"/>
        </a:p>
      </dgm:t>
    </dgm:pt>
    <dgm:pt modelId="{A5729B69-F107-4AE8-88FE-34E2A59C7A5D}" type="parTrans" cxnId="{05B5EB46-8201-4810-A138-133FA3D90EEC}">
      <dgm:prSet/>
      <dgm:spPr/>
      <dgm:t>
        <a:bodyPr/>
        <a:lstStyle/>
        <a:p>
          <a:endParaRPr lang="en-US"/>
        </a:p>
      </dgm:t>
    </dgm:pt>
    <dgm:pt modelId="{3F064F8D-4EBF-4F49-AA81-03361F38999D}" type="sibTrans" cxnId="{05B5EB46-8201-4810-A138-133FA3D90EEC}">
      <dgm:prSet/>
      <dgm:spPr/>
      <dgm:t>
        <a:bodyPr/>
        <a:lstStyle/>
        <a:p>
          <a:endParaRPr lang="en-US"/>
        </a:p>
      </dgm:t>
    </dgm:pt>
    <dgm:pt modelId="{351F9E2D-D026-4660-A26F-4DDF37D35179}" type="pres">
      <dgm:prSet presAssocID="{E7F9D59E-7C78-4991-B173-AE65E22A34B6}" presName="root" presStyleCnt="0">
        <dgm:presLayoutVars>
          <dgm:dir/>
          <dgm:resizeHandles val="exact"/>
        </dgm:presLayoutVars>
      </dgm:prSet>
      <dgm:spPr/>
    </dgm:pt>
    <dgm:pt modelId="{FA37BC31-9A42-4E38-BBDC-B984D645097A}" type="pres">
      <dgm:prSet presAssocID="{F1F6A0BD-031E-4D4E-BDFD-0F2C01FF1FFF}" presName="compNode" presStyleCnt="0"/>
      <dgm:spPr/>
    </dgm:pt>
    <dgm:pt modelId="{6DDD6890-0B59-44E3-B35E-2E95A80EB213}" type="pres">
      <dgm:prSet presAssocID="{F1F6A0BD-031E-4D4E-BDFD-0F2C01FF1FFF}" presName="bgRect" presStyleLbl="bgShp" presStyleIdx="0" presStyleCnt="3"/>
      <dgm:spPr/>
    </dgm:pt>
    <dgm:pt modelId="{ADA91160-5691-476E-AC62-1CC72AEE919D}" type="pres">
      <dgm:prSet presAssocID="{F1F6A0BD-031E-4D4E-BDFD-0F2C01FF1F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luvia"/>
        </a:ext>
      </dgm:extLst>
    </dgm:pt>
    <dgm:pt modelId="{B71C080D-7CA3-4E3D-8840-F1205C02DE55}" type="pres">
      <dgm:prSet presAssocID="{F1F6A0BD-031E-4D4E-BDFD-0F2C01FF1FFF}" presName="spaceRect" presStyleCnt="0"/>
      <dgm:spPr/>
    </dgm:pt>
    <dgm:pt modelId="{CF64CF28-97EF-4779-9255-A25551422330}" type="pres">
      <dgm:prSet presAssocID="{F1F6A0BD-031E-4D4E-BDFD-0F2C01FF1FFF}" presName="parTx" presStyleLbl="revTx" presStyleIdx="0" presStyleCnt="3">
        <dgm:presLayoutVars>
          <dgm:chMax val="0"/>
          <dgm:chPref val="0"/>
        </dgm:presLayoutVars>
      </dgm:prSet>
      <dgm:spPr/>
    </dgm:pt>
    <dgm:pt modelId="{64639008-F5A9-413F-B2EE-4C4B1299C2A2}" type="pres">
      <dgm:prSet presAssocID="{ABDE3B58-A996-4843-B88B-B7B77166FF49}" presName="sibTrans" presStyleCnt="0"/>
      <dgm:spPr/>
    </dgm:pt>
    <dgm:pt modelId="{FAB99E3E-00F5-4899-8A4E-060CD8B77CB7}" type="pres">
      <dgm:prSet presAssocID="{3CA9C1E3-6C68-4844-A9D4-DA627FBC8238}" presName="compNode" presStyleCnt="0"/>
      <dgm:spPr/>
    </dgm:pt>
    <dgm:pt modelId="{31BD4423-E541-40EE-BDB9-9A06B13D663E}" type="pres">
      <dgm:prSet presAssocID="{3CA9C1E3-6C68-4844-A9D4-DA627FBC8238}" presName="bgRect" presStyleLbl="bgShp" presStyleIdx="1" presStyleCnt="3"/>
      <dgm:spPr/>
    </dgm:pt>
    <dgm:pt modelId="{BB227520-9D8E-45EA-A7A5-8A6BE77F74A0}" type="pres">
      <dgm:prSet presAssocID="{3CA9C1E3-6C68-4844-A9D4-DA627FBC82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920973CE-3ABB-4BA1-9F40-63DABD510927}" type="pres">
      <dgm:prSet presAssocID="{3CA9C1E3-6C68-4844-A9D4-DA627FBC8238}" presName="spaceRect" presStyleCnt="0"/>
      <dgm:spPr/>
    </dgm:pt>
    <dgm:pt modelId="{FF783CE3-AEC0-410C-A4A7-3AE4F18E6CCE}" type="pres">
      <dgm:prSet presAssocID="{3CA9C1E3-6C68-4844-A9D4-DA627FBC8238}" presName="parTx" presStyleLbl="revTx" presStyleIdx="1" presStyleCnt="3">
        <dgm:presLayoutVars>
          <dgm:chMax val="0"/>
          <dgm:chPref val="0"/>
        </dgm:presLayoutVars>
      </dgm:prSet>
      <dgm:spPr/>
    </dgm:pt>
    <dgm:pt modelId="{6EE43635-C2A7-49E5-9F13-C57FC6C4A6F0}" type="pres">
      <dgm:prSet presAssocID="{668BDC98-2B48-40ED-92DC-90B5D5FA5AB4}" presName="sibTrans" presStyleCnt="0"/>
      <dgm:spPr/>
    </dgm:pt>
    <dgm:pt modelId="{5EBE62AB-30F4-45DE-ABAB-CC348297C63C}" type="pres">
      <dgm:prSet presAssocID="{6A739F0F-7694-4CF1-9B87-C3168111B359}" presName="compNode" presStyleCnt="0"/>
      <dgm:spPr/>
    </dgm:pt>
    <dgm:pt modelId="{39BE1128-EADD-468E-87E6-0BAF90115072}" type="pres">
      <dgm:prSet presAssocID="{6A739F0F-7694-4CF1-9B87-C3168111B359}" presName="bgRect" presStyleLbl="bgShp" presStyleIdx="2" presStyleCnt="3"/>
      <dgm:spPr/>
    </dgm:pt>
    <dgm:pt modelId="{2A83804D-E79E-49DD-8AE2-AF76D1F87F4C}" type="pres">
      <dgm:prSet presAssocID="{6A739F0F-7694-4CF1-9B87-C3168111B3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pia"/>
        </a:ext>
      </dgm:extLst>
    </dgm:pt>
    <dgm:pt modelId="{A3C95AB2-6B1A-4F1E-B5EA-D2676C274D51}" type="pres">
      <dgm:prSet presAssocID="{6A739F0F-7694-4CF1-9B87-C3168111B359}" presName="spaceRect" presStyleCnt="0"/>
      <dgm:spPr/>
    </dgm:pt>
    <dgm:pt modelId="{1B64C5DB-55DA-4909-AEF4-497A126A8810}" type="pres">
      <dgm:prSet presAssocID="{6A739F0F-7694-4CF1-9B87-C3168111B3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FED534-3F92-4B74-8558-64F3E95C8CE5}" type="presOf" srcId="{3CA9C1E3-6C68-4844-A9D4-DA627FBC8238}" destId="{FF783CE3-AEC0-410C-A4A7-3AE4F18E6CCE}" srcOrd="0" destOrd="0" presId="urn:microsoft.com/office/officeart/2018/2/layout/IconVerticalSolidList"/>
    <dgm:cxn modelId="{0BB9983C-B830-405D-8064-0AAF4BB66BF1}" type="presOf" srcId="{E7F9D59E-7C78-4991-B173-AE65E22A34B6}" destId="{351F9E2D-D026-4660-A26F-4DDF37D35179}" srcOrd="0" destOrd="0" presId="urn:microsoft.com/office/officeart/2018/2/layout/IconVerticalSolidList"/>
    <dgm:cxn modelId="{FD9B093F-5C60-4F39-8C51-3F646B54DF71}" srcId="{E7F9D59E-7C78-4991-B173-AE65E22A34B6}" destId="{3CA9C1E3-6C68-4844-A9D4-DA627FBC8238}" srcOrd="1" destOrd="0" parTransId="{FB2B2F15-4AA8-4FAA-B1CA-F52B7D7759A3}" sibTransId="{668BDC98-2B48-40ED-92DC-90B5D5FA5AB4}"/>
    <dgm:cxn modelId="{05B5EB46-8201-4810-A138-133FA3D90EEC}" srcId="{E7F9D59E-7C78-4991-B173-AE65E22A34B6}" destId="{6A739F0F-7694-4CF1-9B87-C3168111B359}" srcOrd="2" destOrd="0" parTransId="{A5729B69-F107-4AE8-88FE-34E2A59C7A5D}" sibTransId="{3F064F8D-4EBF-4F49-AA81-03361F38999D}"/>
    <dgm:cxn modelId="{6DC576D5-0934-4C09-B334-8161F5F33DE4}" type="presOf" srcId="{F1F6A0BD-031E-4D4E-BDFD-0F2C01FF1FFF}" destId="{CF64CF28-97EF-4779-9255-A25551422330}" srcOrd="0" destOrd="0" presId="urn:microsoft.com/office/officeart/2018/2/layout/IconVerticalSolidList"/>
    <dgm:cxn modelId="{B0CA2EEE-727F-4A97-B44C-5FD2D320F879}" srcId="{E7F9D59E-7C78-4991-B173-AE65E22A34B6}" destId="{F1F6A0BD-031E-4D4E-BDFD-0F2C01FF1FFF}" srcOrd="0" destOrd="0" parTransId="{BF66BD30-BD09-4F8E-876D-F8BC43918E14}" sibTransId="{ABDE3B58-A996-4843-B88B-B7B77166FF49}"/>
    <dgm:cxn modelId="{7DA666FF-36AC-4BDB-9DC5-1735C9C010F6}" type="presOf" srcId="{6A739F0F-7694-4CF1-9B87-C3168111B359}" destId="{1B64C5DB-55DA-4909-AEF4-497A126A8810}" srcOrd="0" destOrd="0" presId="urn:microsoft.com/office/officeart/2018/2/layout/IconVerticalSolidList"/>
    <dgm:cxn modelId="{DEC7B783-526D-46C7-A313-4E94747B9A06}" type="presParOf" srcId="{351F9E2D-D026-4660-A26F-4DDF37D35179}" destId="{FA37BC31-9A42-4E38-BBDC-B984D645097A}" srcOrd="0" destOrd="0" presId="urn:microsoft.com/office/officeart/2018/2/layout/IconVerticalSolidList"/>
    <dgm:cxn modelId="{FBAE0EA1-42B3-4F99-B8CB-C3C5901195EA}" type="presParOf" srcId="{FA37BC31-9A42-4E38-BBDC-B984D645097A}" destId="{6DDD6890-0B59-44E3-B35E-2E95A80EB213}" srcOrd="0" destOrd="0" presId="urn:microsoft.com/office/officeart/2018/2/layout/IconVerticalSolidList"/>
    <dgm:cxn modelId="{78A256D9-8C00-4BF7-8AB2-FB5B4BEF0951}" type="presParOf" srcId="{FA37BC31-9A42-4E38-BBDC-B984D645097A}" destId="{ADA91160-5691-476E-AC62-1CC72AEE919D}" srcOrd="1" destOrd="0" presId="urn:microsoft.com/office/officeart/2018/2/layout/IconVerticalSolidList"/>
    <dgm:cxn modelId="{2CFAC27C-702C-4F4E-B9B3-57A9F538EFBC}" type="presParOf" srcId="{FA37BC31-9A42-4E38-BBDC-B984D645097A}" destId="{B71C080D-7CA3-4E3D-8840-F1205C02DE55}" srcOrd="2" destOrd="0" presId="urn:microsoft.com/office/officeart/2018/2/layout/IconVerticalSolidList"/>
    <dgm:cxn modelId="{A143511B-FB06-4CAB-8BCD-C99D21D8D6C6}" type="presParOf" srcId="{FA37BC31-9A42-4E38-BBDC-B984D645097A}" destId="{CF64CF28-97EF-4779-9255-A25551422330}" srcOrd="3" destOrd="0" presId="urn:microsoft.com/office/officeart/2018/2/layout/IconVerticalSolidList"/>
    <dgm:cxn modelId="{86EADE9F-852E-4609-8209-B9CD9FE4AB94}" type="presParOf" srcId="{351F9E2D-D026-4660-A26F-4DDF37D35179}" destId="{64639008-F5A9-413F-B2EE-4C4B1299C2A2}" srcOrd="1" destOrd="0" presId="urn:microsoft.com/office/officeart/2018/2/layout/IconVerticalSolidList"/>
    <dgm:cxn modelId="{EE3EAFCC-1281-4D00-9330-832D92942DF7}" type="presParOf" srcId="{351F9E2D-D026-4660-A26F-4DDF37D35179}" destId="{FAB99E3E-00F5-4899-8A4E-060CD8B77CB7}" srcOrd="2" destOrd="0" presId="urn:microsoft.com/office/officeart/2018/2/layout/IconVerticalSolidList"/>
    <dgm:cxn modelId="{667D3981-1842-4DDE-8527-82BF27C8A14A}" type="presParOf" srcId="{FAB99E3E-00F5-4899-8A4E-060CD8B77CB7}" destId="{31BD4423-E541-40EE-BDB9-9A06B13D663E}" srcOrd="0" destOrd="0" presId="urn:microsoft.com/office/officeart/2018/2/layout/IconVerticalSolidList"/>
    <dgm:cxn modelId="{7413DDAA-064B-47B4-BD39-9E7DA812A937}" type="presParOf" srcId="{FAB99E3E-00F5-4899-8A4E-060CD8B77CB7}" destId="{BB227520-9D8E-45EA-A7A5-8A6BE77F74A0}" srcOrd="1" destOrd="0" presId="urn:microsoft.com/office/officeart/2018/2/layout/IconVerticalSolidList"/>
    <dgm:cxn modelId="{14D0112C-0114-4E91-9070-EB4AA91EF1CD}" type="presParOf" srcId="{FAB99E3E-00F5-4899-8A4E-060CD8B77CB7}" destId="{920973CE-3ABB-4BA1-9F40-63DABD510927}" srcOrd="2" destOrd="0" presId="urn:microsoft.com/office/officeart/2018/2/layout/IconVerticalSolidList"/>
    <dgm:cxn modelId="{7FFCB1E6-32F0-49C6-A4AD-0E8981102AA9}" type="presParOf" srcId="{FAB99E3E-00F5-4899-8A4E-060CD8B77CB7}" destId="{FF783CE3-AEC0-410C-A4A7-3AE4F18E6CCE}" srcOrd="3" destOrd="0" presId="urn:microsoft.com/office/officeart/2018/2/layout/IconVerticalSolidList"/>
    <dgm:cxn modelId="{4DC0A75A-E575-4EB2-908A-95383DC3E5A8}" type="presParOf" srcId="{351F9E2D-D026-4660-A26F-4DDF37D35179}" destId="{6EE43635-C2A7-49E5-9F13-C57FC6C4A6F0}" srcOrd="3" destOrd="0" presId="urn:microsoft.com/office/officeart/2018/2/layout/IconVerticalSolidList"/>
    <dgm:cxn modelId="{38EE9AA7-8222-4F1D-884B-5BE325B9A66B}" type="presParOf" srcId="{351F9E2D-D026-4660-A26F-4DDF37D35179}" destId="{5EBE62AB-30F4-45DE-ABAB-CC348297C63C}" srcOrd="4" destOrd="0" presId="urn:microsoft.com/office/officeart/2018/2/layout/IconVerticalSolidList"/>
    <dgm:cxn modelId="{E89DD46B-6F4E-412C-90E7-638A50EB08F8}" type="presParOf" srcId="{5EBE62AB-30F4-45DE-ABAB-CC348297C63C}" destId="{39BE1128-EADD-468E-87E6-0BAF90115072}" srcOrd="0" destOrd="0" presId="urn:microsoft.com/office/officeart/2018/2/layout/IconVerticalSolidList"/>
    <dgm:cxn modelId="{F8D68077-6431-4295-9407-A47F366749AC}" type="presParOf" srcId="{5EBE62AB-30F4-45DE-ABAB-CC348297C63C}" destId="{2A83804D-E79E-49DD-8AE2-AF76D1F87F4C}" srcOrd="1" destOrd="0" presId="urn:microsoft.com/office/officeart/2018/2/layout/IconVerticalSolidList"/>
    <dgm:cxn modelId="{F637DADB-F600-454B-AAF4-EEC58BCA4EAE}" type="presParOf" srcId="{5EBE62AB-30F4-45DE-ABAB-CC348297C63C}" destId="{A3C95AB2-6B1A-4F1E-B5EA-D2676C274D51}" srcOrd="2" destOrd="0" presId="urn:microsoft.com/office/officeart/2018/2/layout/IconVerticalSolidList"/>
    <dgm:cxn modelId="{83C54186-73F2-4B4C-AF7A-781478D5152F}" type="presParOf" srcId="{5EBE62AB-30F4-45DE-ABAB-CC348297C63C}" destId="{1B64C5DB-55DA-4909-AEF4-497A126A88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D6890-0B59-44E3-B35E-2E95A80EB213}">
      <dsp:nvSpPr>
        <dsp:cNvPr id="0" name=""/>
        <dsp:cNvSpPr/>
      </dsp:nvSpPr>
      <dsp:spPr>
        <a:xfrm>
          <a:off x="0" y="432"/>
          <a:ext cx="9906000" cy="1011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91160-5691-476E-AC62-1CC72AEE919D}">
      <dsp:nvSpPr>
        <dsp:cNvPr id="0" name=""/>
        <dsp:cNvSpPr/>
      </dsp:nvSpPr>
      <dsp:spPr>
        <a:xfrm>
          <a:off x="306030" y="228058"/>
          <a:ext cx="556418" cy="5564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64CF28-97EF-4779-9255-A25551422330}">
      <dsp:nvSpPr>
        <dsp:cNvPr id="0" name=""/>
        <dsp:cNvSpPr/>
      </dsp:nvSpPr>
      <dsp:spPr>
        <a:xfrm>
          <a:off x="1168479" y="432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Superficie sembrada y cosechada.</a:t>
          </a:r>
          <a:endParaRPr lang="en-US" sz="2400" kern="1200" dirty="0"/>
        </a:p>
      </dsp:txBody>
      <dsp:txXfrm>
        <a:off x="1168479" y="432"/>
        <a:ext cx="8737520" cy="1011670"/>
      </dsp:txXfrm>
    </dsp:sp>
    <dsp:sp modelId="{31BD4423-E541-40EE-BDB9-9A06B13D663E}">
      <dsp:nvSpPr>
        <dsp:cNvPr id="0" name=""/>
        <dsp:cNvSpPr/>
      </dsp:nvSpPr>
      <dsp:spPr>
        <a:xfrm>
          <a:off x="0" y="1265020"/>
          <a:ext cx="9906000" cy="1011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27520-9D8E-45EA-A7A5-8A6BE77F74A0}">
      <dsp:nvSpPr>
        <dsp:cNvPr id="0" name=""/>
        <dsp:cNvSpPr/>
      </dsp:nvSpPr>
      <dsp:spPr>
        <a:xfrm>
          <a:off x="306030" y="1492646"/>
          <a:ext cx="556418" cy="5564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3CE3-AEC0-410C-A4A7-3AE4F18E6CCE}">
      <dsp:nvSpPr>
        <dsp:cNvPr id="0" name=""/>
        <dsp:cNvSpPr/>
      </dsp:nvSpPr>
      <dsp:spPr>
        <a:xfrm>
          <a:off x="1168479" y="1265020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Producción total y rendimiento (kg/ha).</a:t>
          </a:r>
          <a:endParaRPr lang="en-US" sz="2400" kern="1200"/>
        </a:p>
      </dsp:txBody>
      <dsp:txXfrm>
        <a:off x="1168479" y="1265020"/>
        <a:ext cx="8737520" cy="1011670"/>
      </dsp:txXfrm>
    </dsp:sp>
    <dsp:sp modelId="{39BE1128-EADD-468E-87E6-0BAF90115072}">
      <dsp:nvSpPr>
        <dsp:cNvPr id="0" name=""/>
        <dsp:cNvSpPr/>
      </dsp:nvSpPr>
      <dsp:spPr>
        <a:xfrm>
          <a:off x="0" y="2529608"/>
          <a:ext cx="9906000" cy="1011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3804D-E79E-49DD-8AE2-AF76D1F87F4C}">
      <dsp:nvSpPr>
        <dsp:cNvPr id="0" name=""/>
        <dsp:cNvSpPr/>
      </dsp:nvSpPr>
      <dsp:spPr>
        <a:xfrm>
          <a:off x="306030" y="2757234"/>
          <a:ext cx="556418" cy="5564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4C5DB-55DA-4909-AEF4-497A126A8810}">
      <dsp:nvSpPr>
        <dsp:cNvPr id="0" name=""/>
        <dsp:cNvSpPr/>
      </dsp:nvSpPr>
      <dsp:spPr>
        <a:xfrm>
          <a:off x="1168479" y="2529608"/>
          <a:ext cx="8737520" cy="1011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068" tIns="107068" rIns="107068" bIns="107068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Esto busca mejorar la toma de decisiones en el sector agroindustrial, optimizando planificación, inversión y estrategias productivas.</a:t>
          </a:r>
          <a:endParaRPr lang="en-US" sz="2400" kern="1200"/>
        </a:p>
      </dsp:txBody>
      <dsp:txXfrm>
        <a:off x="1168479" y="2529608"/>
        <a:ext cx="8737520" cy="1011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80FDCA-5FB2-4A5A-ADD6-CF221ECFD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500BAA6-5F68-4012-BE48-12FA10807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3C40ED8-3098-43A6-835B-0A0FFB1E3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60E6875-4D05-B076-2029-48C3019CA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0066" y="1122363"/>
            <a:ext cx="5397933" cy="2387600"/>
          </a:xfrm>
        </p:spPr>
        <p:txBody>
          <a:bodyPr>
            <a:normAutofit/>
          </a:bodyPr>
          <a:lstStyle/>
          <a:p>
            <a:r>
              <a:rPr lang="es-MX" sz="4400" dirty="0"/>
              <a:t>Predicción del Rendimiento de Soja en Argentina</a:t>
            </a:r>
            <a:endParaRPr lang="es-AR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DCF9FF-0C2A-49EF-ADA1-D0C602ADF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896" y="3602037"/>
            <a:ext cx="5437103" cy="2828926"/>
          </a:xfrm>
        </p:spPr>
        <p:txBody>
          <a:bodyPr>
            <a:normAutofit/>
          </a:bodyPr>
          <a:lstStyle/>
          <a:p>
            <a:r>
              <a:rPr lang="es-MX" dirty="0"/>
              <a:t>Análisis de datos históricos y modelo de Machine Learning</a:t>
            </a:r>
          </a:p>
          <a:p>
            <a:endParaRPr lang="es-MX" dirty="0"/>
          </a:p>
          <a:p>
            <a:r>
              <a:rPr lang="es-MX" dirty="0"/>
              <a:t>BRIAN EMANUEL SILVA</a:t>
            </a:r>
            <a:endParaRPr lang="es-AR" dirty="0"/>
          </a:p>
        </p:txBody>
      </p:sp>
      <p:pic>
        <p:nvPicPr>
          <p:cNvPr id="5" name="Picture 4" descr="Campo de vegetales verdes">
            <a:extLst>
              <a:ext uri="{FF2B5EF4-FFF2-40B4-BE49-F238E27FC236}">
                <a16:creationId xmlns:a16="http://schemas.microsoft.com/office/drawing/2014/main" id="{79D690B7-0E28-EFD9-FC9E-2B3E41A113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69" r="25811" b="-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A230317-CD6B-4234-8C05-373F12DCD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B034F32D-806B-4291-B2CA-CF0EA2870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E9FE820-1AA6-4D39-AD2C-C506FFFD7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7F9EF66-EB38-4E61-96C3-7D5509207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800C33A2-7DD2-44E2-B4F6-02E513EDC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CEF5FDA4-766B-4B05-9DD8-50996DF0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65793AE7-532B-40FA-9C10-F638AED0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E8EC63C4-C6FD-4D54-A371-25D3EC11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ED83C96-87F9-44CA-8B79-67229DCA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7390B534-563D-4EDE-806A-089A70828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A45E36BF-D9A6-4C2F-B029-34668BE37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948C6374-5B2E-480C-A38D-73C55A0B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FBD1981E-DB7B-4A75-B3F9-E6A68B57B2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CD0D87EA-0EEF-4C9A-8222-79064DEB2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8E1321BD-3BB2-44EC-B993-CD66143A71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A8B81BE-6D8B-4F72-8FFE-997F0B6BF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00D5C014-4C0D-4D56-8507-F90AB49AF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25F1D314-A3CF-4B41-81E1-9569D398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883778CE-F722-4002-88B4-41A1C22AC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2DECBE47-6205-42E8-B5E7-95E4646D7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84003F7E-B14F-4067-883E-1E0D09B26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4892A300-B87F-43B3-8DC3-C32C24BFB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FFF9C883-46DB-4219-B6D8-0B79024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C78BA074-168A-4DAF-B420-0C12E6412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E5D148A-E6A5-4A00-AB88-EFC528EB4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69A5ED52-C17B-40C3-BF9F-A963FB9D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F4645C5A-39F5-42DE-B5FD-EF757647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B91630DC-0ECE-4542-AB5E-A8FDA9E2B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7832E90F-90F2-4E04-A217-C3DA271EF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B7AFC095-D60B-4826-BEEA-4CA662C12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60F4427D-69AF-4CA5-82C4-A2D6F3907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3819CB9F-905D-460B-BB33-B9D3447E8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2AFA2992-F0FB-40D7-AE13-B66063A34A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351E02E0-C3D9-4ACC-9140-20031EAEC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6C4B5228-0D13-4381-AED4-C2AF72B1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9953BFB6-B848-4C55-9BE7-8D0BF6636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BA5F7123-0E9C-4815-8FEB-B2403DED23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177E5441-2B4C-45C4-A267-80A580DF8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A14DDA66-046F-4714-9241-A1A282E98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7D41BD63-8F36-4344-BCAE-8A25881C4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7EDC1EDF-32C2-4D2A-882C-1DB5B8EF9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B468D7FF-21DC-4039-A1C5-0FC24760D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895D3AD5-6723-4106-A807-14BC85F8A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C108E3D9-8BBE-4550-94D3-7138CC2C2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72F986C7-7129-4D44-955B-195BFCFFE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C079794B-E9E2-4470-8752-ABF048492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25C69632-D712-4B9E-BE46-E709043D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5398A425-0BC4-4A58-A7C9-00D21CE72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CEC1CD69-F03A-4FCC-912C-4D106266C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BC1C7799-9A1E-4A36-ABE2-F3CAAB2E8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ACA52D66-D0A7-4781-9C9B-FD063E75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9505C7EC-D6ED-410C-B1F3-FE28A1EB8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F31C8465-C370-4621-900B-092BFBE62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47464513-398E-456D-88B4-9C61A833B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D29E8E22-04CF-4B8F-826F-D10F90685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C0E9EE2-DDBB-4805-9BDB-0A641D4D6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DAD368F5-B56C-4FAD-B6D4-EE7735CFA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4AB54702-789A-4F49-AEE9-99E760709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9B1CA07F-87EB-4653-A4C0-830F78ACF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98F7092B-3FEC-49A1-8D20-519838906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7778A96A-836D-4D19-BA04-02CD06A61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2B8F9D0-FE29-4435-9FAE-CEDB5EE03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0994342E-B827-4B78-B16A-2B14F141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F3A98EAA-C90B-499C-88BA-0BEACD8B1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D631486A-39BD-444D-B42C-C766427ED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96FDBF3A-05F4-49EA-A83C-3EF51D9CE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463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D0EE9F-9E3C-462E-A179-E83BAF11B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F4B890-5E48-824D-3D76-AA9D37FB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MX" sz="3300" dirty="0"/>
              <a:t>El objetivo del proyecto es </a:t>
            </a:r>
            <a:r>
              <a:rPr lang="es-MX" sz="3300" b="1" dirty="0"/>
              <a:t>predecir el rendimiento de soja en Argentina</a:t>
            </a:r>
            <a:r>
              <a:rPr lang="es-MX" sz="3300" dirty="0"/>
              <a:t> utilizando información histórica sobre:</a:t>
            </a:r>
            <a:endParaRPr lang="es-AR" sz="3300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410FE78-A963-4F64-17FC-49795BF24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077816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332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C114C-F8AE-D33B-8E7F-F1EF187C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Distribución del rendimiento antes y después de eliminar </a:t>
            </a:r>
            <a:r>
              <a:rPr lang="es-MX" dirty="0" err="1"/>
              <a:t>outliers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F7D0B6-8038-582C-D791-2542D0EAA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El gráfico compara los rendimientos de soja antes y después de quitar valores atípicos. Se observa que, tras eliminar los </a:t>
            </a:r>
            <a:r>
              <a:rPr lang="es-MX" b="1" dirty="0" err="1"/>
              <a:t>outliers</a:t>
            </a:r>
            <a:r>
              <a:rPr lang="es-MX" dirty="0"/>
              <a:t>, la distribución se vuelve </a:t>
            </a:r>
            <a:r>
              <a:rPr lang="es-MX" b="1" dirty="0"/>
              <a:t>más uniforme y representativa</a:t>
            </a:r>
            <a:r>
              <a:rPr lang="es-MX" dirty="0"/>
              <a:t>, eliminando valores extremos que distorsionaban el análisis (como rendimientos anómalos de hasta 20.000 kg/ha). Esto mejora la </a:t>
            </a:r>
            <a:r>
              <a:rPr lang="es-MX" b="1" dirty="0"/>
              <a:t>calidad y precisión del modelo predictivo</a:t>
            </a:r>
            <a:r>
              <a:rPr lang="es-MX" dirty="0"/>
              <a:t> al basarse en datos más realistas.</a:t>
            </a:r>
            <a:endParaRPr lang="es-AR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C52EDAA-8331-EB86-2EDE-174860E8C9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328459"/>
            <a:ext cx="5891213" cy="372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74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127DE7-4F37-1384-3028-756D6E20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correlación</a:t>
            </a:r>
            <a:r>
              <a:rPr lang="en-US" dirty="0"/>
              <a:t> entre variables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2793D5-BD45-E047-6324-8E74663ED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 </a:t>
            </a:r>
            <a:r>
              <a:rPr lang="en-US" dirty="0" err="1"/>
              <a:t>matriz</a:t>
            </a:r>
            <a:r>
              <a:rPr lang="en-US" dirty="0"/>
              <a:t> de </a:t>
            </a:r>
            <a:r>
              <a:rPr lang="en-US" dirty="0" err="1"/>
              <a:t>correlación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relacionan</a:t>
            </a:r>
            <a:r>
              <a:rPr lang="en-US" dirty="0"/>
              <a:t> las </a:t>
            </a:r>
            <a:r>
              <a:rPr lang="en-US" dirty="0" err="1"/>
              <a:t>principales</a:t>
            </a:r>
            <a:r>
              <a:rPr lang="en-US" dirty="0"/>
              <a:t> variables del conjunto de </a:t>
            </a:r>
            <a:r>
              <a:rPr lang="en-US" dirty="0" err="1"/>
              <a:t>datos</a:t>
            </a:r>
            <a:r>
              <a:rPr lang="en-US" dirty="0"/>
              <a:t>. Se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fuerte</a:t>
            </a:r>
            <a:r>
              <a:rPr lang="en-US" dirty="0"/>
              <a:t> </a:t>
            </a:r>
            <a:r>
              <a:rPr lang="en-US" dirty="0" err="1"/>
              <a:t>correlación</a:t>
            </a:r>
            <a:r>
              <a:rPr lang="en-US" dirty="0"/>
              <a:t> </a:t>
            </a:r>
            <a:r>
              <a:rPr lang="en-US" dirty="0" err="1"/>
              <a:t>positiva</a:t>
            </a:r>
            <a:r>
              <a:rPr lang="en-US" dirty="0"/>
              <a:t> entre la </a:t>
            </a:r>
            <a:r>
              <a:rPr lang="en-US" dirty="0" err="1"/>
              <a:t>superficie</a:t>
            </a:r>
            <a:r>
              <a:rPr lang="en-US" dirty="0"/>
              <a:t> </a:t>
            </a:r>
            <a:r>
              <a:rPr lang="en-US" dirty="0" err="1"/>
              <a:t>sembrada</a:t>
            </a:r>
            <a:r>
              <a:rPr lang="en-US" dirty="0"/>
              <a:t>, la </a:t>
            </a:r>
            <a:r>
              <a:rPr lang="en-US" dirty="0" err="1"/>
              <a:t>superficie</a:t>
            </a:r>
            <a:r>
              <a:rPr lang="en-US" dirty="0"/>
              <a:t> </a:t>
            </a:r>
            <a:r>
              <a:rPr lang="en-US" dirty="0" err="1"/>
              <a:t>cosechada</a:t>
            </a:r>
            <a:r>
              <a:rPr lang="en-US" dirty="0"/>
              <a:t> y la </a:t>
            </a:r>
            <a:r>
              <a:rPr lang="en-US" dirty="0" err="1"/>
              <a:t>producción</a:t>
            </a:r>
            <a:r>
              <a:rPr lang="en-US" dirty="0"/>
              <a:t> total, lo </a:t>
            </a:r>
            <a:r>
              <a:rPr lang="en-US" dirty="0" err="1"/>
              <a:t>que</a:t>
            </a:r>
            <a:r>
              <a:rPr lang="en-US" dirty="0"/>
              <a:t> indica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</a:t>
            </a:r>
            <a:r>
              <a:rPr lang="en-US" dirty="0" err="1"/>
              <a:t>cultivada</a:t>
            </a:r>
            <a:r>
              <a:rPr lang="en-US" dirty="0"/>
              <a:t> también lo </a:t>
            </a:r>
            <a:r>
              <a:rPr lang="en-US" dirty="0" err="1"/>
              <a:t>hace</a:t>
            </a:r>
            <a:r>
              <a:rPr lang="en-US" dirty="0"/>
              <a:t> la </a:t>
            </a:r>
            <a:r>
              <a:rPr lang="en-US" dirty="0" err="1"/>
              <a:t>producción</a:t>
            </a:r>
            <a:r>
              <a:rPr lang="en-US" dirty="0"/>
              <a:t>. </a:t>
            </a:r>
            <a:r>
              <a:rPr lang="en-US" dirty="0" err="1"/>
              <a:t>Además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rendimiento</a:t>
            </a:r>
            <a:r>
              <a:rPr lang="en-US" dirty="0"/>
              <a:t> (kg/ha) </a:t>
            </a:r>
            <a:r>
              <a:rPr lang="en-US" dirty="0" err="1"/>
              <a:t>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correlación</a:t>
            </a:r>
            <a:r>
              <a:rPr lang="en-US" dirty="0"/>
              <a:t> </a:t>
            </a:r>
            <a:r>
              <a:rPr lang="en-US" dirty="0" err="1"/>
              <a:t>moderada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año</a:t>
            </a:r>
            <a:r>
              <a:rPr lang="en-US" dirty="0"/>
              <a:t> (r=0.58), lo </a:t>
            </a:r>
            <a:r>
              <a:rPr lang="en-US" dirty="0" err="1"/>
              <a:t>cual</a:t>
            </a:r>
            <a:r>
              <a:rPr lang="en-US" dirty="0"/>
              <a:t> </a:t>
            </a:r>
            <a:r>
              <a:rPr lang="en-US" dirty="0" err="1"/>
              <a:t>sugiere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mejora</a:t>
            </a:r>
            <a:r>
              <a:rPr lang="en-US" dirty="0"/>
              <a:t> gradual del </a:t>
            </a:r>
            <a:r>
              <a:rPr lang="en-US" dirty="0" err="1"/>
              <a:t>rendimiento</a:t>
            </a:r>
            <a:r>
              <a:rPr lang="en-US" dirty="0"/>
              <a:t> a lo largo del </a:t>
            </a:r>
            <a:r>
              <a:rPr lang="en-US" dirty="0" err="1"/>
              <a:t>tiempo</a:t>
            </a:r>
            <a:r>
              <a:rPr lang="en-US" dirty="0"/>
              <a:t>, </a:t>
            </a:r>
            <a:r>
              <a:rPr lang="en-US" dirty="0" err="1"/>
              <a:t>posiblemente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avances</a:t>
            </a:r>
            <a:r>
              <a:rPr lang="en-US" dirty="0"/>
              <a:t> </a:t>
            </a:r>
            <a:r>
              <a:rPr lang="en-US" dirty="0" err="1"/>
              <a:t>tecnológicos</a:t>
            </a:r>
            <a:r>
              <a:rPr lang="en-US" dirty="0"/>
              <a:t> o </a:t>
            </a:r>
            <a:r>
              <a:rPr lang="en-US" dirty="0" err="1"/>
              <a:t>mejores</a:t>
            </a:r>
            <a:r>
              <a:rPr lang="en-US" dirty="0"/>
              <a:t> </a:t>
            </a:r>
            <a:r>
              <a:rPr lang="en-US" dirty="0" err="1"/>
              <a:t>prácticas</a:t>
            </a:r>
            <a:r>
              <a:rPr lang="en-US" dirty="0"/>
              <a:t> </a:t>
            </a:r>
            <a:r>
              <a:rPr lang="en-US" dirty="0" err="1"/>
              <a:t>agrícolas</a:t>
            </a:r>
            <a:r>
              <a:rPr lang="en-US" dirty="0"/>
              <a:t>. En </a:t>
            </a:r>
            <a:r>
              <a:rPr lang="en-US" dirty="0" err="1"/>
              <a:t>cambio</a:t>
            </a:r>
            <a:r>
              <a:rPr lang="en-US" dirty="0"/>
              <a:t>, la variable </a:t>
            </a:r>
            <a:r>
              <a:rPr lang="en-US" dirty="0" err="1"/>
              <a:t>provincia_id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correlación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baja con </a:t>
            </a:r>
            <a:r>
              <a:rPr lang="en-US" dirty="0" err="1"/>
              <a:t>el</a:t>
            </a:r>
            <a:r>
              <a:rPr lang="en-US" dirty="0"/>
              <a:t> resto, lo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ubicación</a:t>
            </a:r>
            <a:r>
              <a:rPr lang="en-US" dirty="0"/>
              <a:t> </a:t>
            </a:r>
            <a:r>
              <a:rPr lang="en-US" dirty="0" err="1"/>
              <a:t>geográfica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sí</a:t>
            </a:r>
            <a:r>
              <a:rPr lang="en-US" dirty="0"/>
              <a:t> sola no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significativamente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rendimiento</a:t>
            </a:r>
            <a:r>
              <a:rPr lang="en-US" dirty="0"/>
              <a:t>. En conjunto,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gráfico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variables </a:t>
            </a:r>
            <a:r>
              <a:rPr lang="en-US" dirty="0" err="1"/>
              <a:t>aportan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para </a:t>
            </a:r>
            <a:r>
              <a:rPr lang="en-US" dirty="0" err="1"/>
              <a:t>predecir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rendimiento</a:t>
            </a:r>
            <a:r>
              <a:rPr lang="en-US" dirty="0"/>
              <a:t> de soja.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3687C79-9D4A-325B-BD6B-E2356C854E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722" y="592138"/>
            <a:ext cx="5712168" cy="51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42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5F1EB-4420-B1B9-254C-26674763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Importancia de Variables en la Predicción de Rendimiento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1273E5-4139-F847-11EE-CFB9326D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El gráfico muestra la importancia relativa de las variables utilizadas por el modelo de </a:t>
            </a:r>
            <a:r>
              <a:rPr lang="es-MX" dirty="0" err="1"/>
              <a:t>Random</a:t>
            </a:r>
            <a:r>
              <a:rPr lang="es-MX" dirty="0"/>
              <a:t> Forest para predecir el rendimiento de soja. Se observa que la producción total (</a:t>
            </a:r>
            <a:r>
              <a:rPr lang="es-MX" dirty="0" err="1"/>
              <a:t>produccion_tm</a:t>
            </a:r>
            <a:r>
              <a:rPr lang="es-MX" dirty="0"/>
              <a:t>) es la variable más influyente, explicando cerca del 46% de la capacidad predictiva del modelo. En segundo lugar aparece el año, con una contribución del 32%, lo que indica que las tendencias temporales t—como mejoras tecnológicas o climáticas— </a:t>
            </a:r>
            <a:r>
              <a:rPr lang="es-MX" dirty="0" err="1"/>
              <a:t>ambién</a:t>
            </a:r>
            <a:r>
              <a:rPr lang="es-MX" dirty="0"/>
              <a:t> impactan significativamente en el rendimiento. La superficie sembrada aporta un 14%, mientras que la superficie cosechada y la provincia tienen un efecto menor. En conjunto, el gráfico evidencia que la productividad total y la evolución temporal son los factores que más determinan el rendimiento de la soja en Argentina.</a:t>
            </a:r>
            <a:endParaRPr lang="es-A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169099D-A314-0F75-48B6-6C362E151D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382" y="1028237"/>
            <a:ext cx="6026044" cy="476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1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9D02D-0285-4447-ED1D-AA6EF5B9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Predicciones vs Valores Reales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CDE7FF-5E50-5361-D592-93AFA12EB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MX" dirty="0"/>
              <a:t>El gráfico compara los </a:t>
            </a:r>
            <a:r>
              <a:rPr lang="es-MX" b="1" dirty="0"/>
              <a:t>valores reales de rendimiento de soja</a:t>
            </a:r>
            <a:r>
              <a:rPr lang="es-MX" dirty="0"/>
              <a:t> (en el eje X) con los </a:t>
            </a:r>
            <a:r>
              <a:rPr lang="es-MX" b="1" dirty="0"/>
              <a:t>valores predichos por el modelo de </a:t>
            </a:r>
            <a:r>
              <a:rPr lang="es-MX" b="1" dirty="0" err="1"/>
              <a:t>Random</a:t>
            </a:r>
            <a:r>
              <a:rPr lang="es-MX" b="1" dirty="0"/>
              <a:t> Forest</a:t>
            </a:r>
            <a:r>
              <a:rPr lang="es-MX" dirty="0"/>
              <a:t> (en el eje Y). Cada punto azul representa una observación del conjunto de prueba, mientras que la </a:t>
            </a:r>
            <a:r>
              <a:rPr lang="es-MX" b="1" dirty="0"/>
              <a:t>línea roja discontinua</a:t>
            </a:r>
            <a:r>
              <a:rPr lang="es-MX" dirty="0"/>
              <a:t> indica la coincidencia perfecta entre predicción y realidad. Se observa que la mayoría de los puntos se agrupan cerca de esta línea, lo que evidencia una </a:t>
            </a:r>
            <a:r>
              <a:rPr lang="es-MX" b="1" dirty="0"/>
              <a:t>alta precisión del modelo</a:t>
            </a:r>
            <a:r>
              <a:rPr lang="es-MX" dirty="0"/>
              <a:t> y una buena capacidad para reproducir los rendimientos reales. Aunque existen algunas desviaciones, principalmente en valores extremos, el modelo mantiene un </a:t>
            </a:r>
            <a:r>
              <a:rPr lang="es-MX" b="1" dirty="0"/>
              <a:t>comportamiento consistente y confiable</a:t>
            </a:r>
            <a:r>
              <a:rPr lang="es-MX" dirty="0"/>
              <a:t> en sus estimaciones.</a:t>
            </a:r>
            <a:endParaRPr lang="es-A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1A65C38-065B-68BA-381C-583AD591D1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672962"/>
            <a:ext cx="5891213" cy="50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17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67025-FE89-88C1-73A2-6E5E0492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Distribución de Errores de Predicción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3905E0-652D-AD9C-2C96-925199868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El gráfico muestra la </a:t>
            </a:r>
            <a:r>
              <a:rPr lang="es-MX" b="1" dirty="0"/>
              <a:t>distribución de los errores del modelo </a:t>
            </a:r>
            <a:r>
              <a:rPr lang="es-MX" b="1" dirty="0" err="1"/>
              <a:t>Random</a:t>
            </a:r>
            <a:r>
              <a:rPr lang="es-MX" b="1" dirty="0"/>
              <a:t> Forest</a:t>
            </a:r>
            <a:r>
              <a:rPr lang="es-MX" dirty="0"/>
              <a:t> al predecir el rendimiento de soja (en kg/ha). En el eje horizontal se representa el error (la diferencia entre el valor real y el valor predicho), mientras que en el eje vertical se muestra la frecuencia de aparición de esos errores. La mayoría de los errores se concentran alrededor de </a:t>
            </a:r>
            <a:r>
              <a:rPr lang="es-MX" b="1" dirty="0"/>
              <a:t>0</a:t>
            </a:r>
            <a:r>
              <a:rPr lang="es-MX" dirty="0"/>
              <a:t>, lo que indica que el modelo no presenta un sesgo importante ni hacia la sobreestimación ni hacia la subestimación. La forma simétrica y con pico central sugiere que los errores siguen aproximadamente una </a:t>
            </a:r>
            <a:r>
              <a:rPr lang="es-MX" b="1" dirty="0"/>
              <a:t>distribución normal</a:t>
            </a:r>
            <a:r>
              <a:rPr lang="es-MX" dirty="0"/>
              <a:t>, lo que es un buen signo de un modelo bien ajustado. En resumen, el modelo logra </a:t>
            </a:r>
            <a:r>
              <a:rPr lang="es-MX" b="1" dirty="0"/>
              <a:t>predicciones precisas y estables</a:t>
            </a:r>
            <a:r>
              <a:rPr lang="es-MX" dirty="0"/>
              <a:t>, con la mayoría de los errores dentro de un rango razonable de ±300 kg/ha.</a:t>
            </a:r>
          </a:p>
          <a:p>
            <a:endParaRPr lang="es-A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06B20FB-18F6-DB56-6172-C505EF74F9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672962"/>
            <a:ext cx="5891213" cy="503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83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464E7-1D1A-9A78-DB15-AE961549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Evolución del Rendimiento Promedio de Soja por Año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681C0E-78EC-7731-6068-DA8D0BD31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MX" sz="1400" dirty="0"/>
              <a:t>El gráfico muestra la </a:t>
            </a:r>
            <a:r>
              <a:rPr lang="es-MX" sz="1400" b="1" dirty="0"/>
              <a:t>tendencia histórica del rendimiento promedio de soja en Argentina</a:t>
            </a:r>
            <a:r>
              <a:rPr lang="es-MX" sz="1400" dirty="0"/>
              <a:t> desde 1940 hasta la actualidad, medido en kilogramos por hectárea (kg/ha). Se observa una </a:t>
            </a:r>
            <a:r>
              <a:rPr lang="es-MX" sz="1400" b="1" dirty="0"/>
              <a:t>clara tendencia ascendente</a:t>
            </a:r>
            <a:r>
              <a:rPr lang="es-MX" sz="1400" dirty="0"/>
              <a:t> a lo largo del tiempo, especialmente a partir de la década de 1980, lo que indica un </a:t>
            </a:r>
            <a:r>
              <a:rPr lang="es-MX" sz="1400" b="1" dirty="0"/>
              <a:t>aumento sostenido en la productividad del cultivo</a:t>
            </a:r>
            <a:r>
              <a:rPr lang="es-MX" sz="1400" dirty="0"/>
              <a:t>. Este crecimiento puede atribuirse a la incorporación de </a:t>
            </a:r>
            <a:r>
              <a:rPr lang="es-MX" sz="1400" b="1" dirty="0"/>
              <a:t>tecnologías agrícolas modernas</a:t>
            </a:r>
            <a:r>
              <a:rPr lang="es-MX" sz="1400" dirty="0"/>
              <a:t>, </a:t>
            </a:r>
            <a:r>
              <a:rPr lang="es-MX" sz="1400" b="1" dirty="0"/>
              <a:t>mejoras genéticas en las semillas</a:t>
            </a:r>
            <a:r>
              <a:rPr lang="es-MX" sz="1400" dirty="0"/>
              <a:t>, </a:t>
            </a:r>
            <a:r>
              <a:rPr lang="es-MX" sz="1400" b="1" dirty="0"/>
              <a:t>mayor eficiencia en el manejo del suelo y los fertilizantes</a:t>
            </a:r>
            <a:r>
              <a:rPr lang="es-MX" sz="1400" dirty="0"/>
              <a:t>, y una </a:t>
            </a:r>
            <a:r>
              <a:rPr lang="es-MX" sz="1400" b="1" dirty="0"/>
              <a:t>mejor adaptación del cultivo a las condiciones climáticas</a:t>
            </a:r>
            <a:r>
              <a:rPr lang="es-MX" sz="1400" dirty="0"/>
              <a:t>. Aunque existen fluctuaciones interanuales —posiblemente asociadas a factores climáticos o económicos—, la tendencia general demuestra un </a:t>
            </a:r>
            <a:r>
              <a:rPr lang="es-MX" sz="1400" b="1" dirty="0"/>
              <a:t>progreso significativo en la producción de soja en el país</a:t>
            </a:r>
            <a:r>
              <a:rPr lang="es-MX" sz="1400" dirty="0"/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D0AAC12-5725-C31B-B2CC-AEF4740C1F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988997"/>
            <a:ext cx="5891213" cy="440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5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B324-CB42-AF58-6CFC-184E5F9C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Distribución del Rendimiento por Provincia (Top 10)</a:t>
            </a:r>
            <a:endParaRPr lang="es-AR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69993D-7342-A9B9-D3D7-31A3E9084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s-MX" dirty="0"/>
              <a:t>El gráfico muestra la </a:t>
            </a:r>
            <a:r>
              <a:rPr lang="es-MX" b="1" dirty="0"/>
              <a:t>distribución del rendimiento de soja (kg/ha)</a:t>
            </a:r>
            <a:r>
              <a:rPr lang="es-MX" dirty="0"/>
              <a:t> en las </a:t>
            </a:r>
            <a:r>
              <a:rPr lang="es-MX" b="1" dirty="0"/>
              <a:t>diez provincias argentinas con mayores promedios de producción</a:t>
            </a:r>
            <a:r>
              <a:rPr lang="es-MX" dirty="0"/>
              <a:t>. Cada caja representa la variabilidad de los rendimientos dentro de cada provincia: el centro indica la </a:t>
            </a:r>
            <a:r>
              <a:rPr lang="es-MX" b="1" dirty="0"/>
              <a:t>mediana</a:t>
            </a:r>
            <a:r>
              <a:rPr lang="es-MX" dirty="0"/>
              <a:t>, los bordes de la caja el rango intercuartílico (50% central de los datos) y los puntos extremos los </a:t>
            </a:r>
            <a:r>
              <a:rPr lang="es-MX" b="1" dirty="0"/>
              <a:t>valores atípicos</a:t>
            </a:r>
            <a:r>
              <a:rPr lang="es-MX" dirty="0"/>
              <a:t> (</a:t>
            </a:r>
            <a:r>
              <a:rPr lang="es-MX" dirty="0" err="1"/>
              <a:t>outliers</a:t>
            </a:r>
            <a:r>
              <a:rPr lang="es-MX" dirty="0"/>
              <a:t>).</a:t>
            </a:r>
          </a:p>
          <a:p>
            <a:pPr algn="just"/>
            <a:r>
              <a:rPr lang="es-MX" dirty="0"/>
              <a:t>Se observa que </a:t>
            </a:r>
            <a:r>
              <a:rPr lang="es-MX" b="1" dirty="0"/>
              <a:t>Santa Fe, Buenos Aires y Santiago del Estero</a:t>
            </a:r>
            <a:r>
              <a:rPr lang="es-MX" dirty="0"/>
              <a:t> presentan los rendimientos más altos y consistentes, lo que refleja una mayor estabilidad productiva. En cambio, provincias como </a:t>
            </a:r>
            <a:r>
              <a:rPr lang="es-MX" b="1" dirty="0"/>
              <a:t>Catamarca y Jujuy</a:t>
            </a:r>
            <a:r>
              <a:rPr lang="es-MX" dirty="0"/>
              <a:t> muestran una dispersión más amplia, lo que sugiere </a:t>
            </a:r>
            <a:r>
              <a:rPr lang="es-MX" b="1" dirty="0"/>
              <a:t>mayor variabilidad en las condiciones de cultivo</a:t>
            </a:r>
            <a:r>
              <a:rPr lang="es-MX" dirty="0"/>
              <a:t> o en el manejo agrícola. En general, el gráfico permite comparar la </a:t>
            </a:r>
            <a:r>
              <a:rPr lang="es-MX" b="1" dirty="0"/>
              <a:t>eficiencia y estabilidad del rendimiento</a:t>
            </a:r>
            <a:r>
              <a:rPr lang="es-MX" dirty="0"/>
              <a:t> entre provincias, destacando el liderazgo productivo de la región pampeana.</a:t>
            </a:r>
          </a:p>
          <a:p>
            <a:endParaRPr lang="es-A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5FD9781-FD1C-4056-AA5D-3B3E1DDCFA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1236767"/>
            <a:ext cx="5891213" cy="39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035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925FC-6324-359C-25CC-9D938999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de las Métricas de Evaluación del Modelo </a:t>
            </a:r>
            <a:r>
              <a:rPr lang="es-MX" dirty="0" err="1"/>
              <a:t>Random</a:t>
            </a:r>
            <a:r>
              <a:rPr lang="es-MX" dirty="0"/>
              <a:t> Forest</a:t>
            </a:r>
            <a:endParaRPr lang="es-AR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3D4435A-B5C5-44E0-DED9-2517A0E77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869911"/>
              </p:ext>
            </p:extLst>
          </p:nvPr>
        </p:nvGraphicFramePr>
        <p:xfrm>
          <a:off x="1141413" y="2249488"/>
          <a:ext cx="990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95702720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687286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Métrica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Valor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7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MAE (Error Absoluto Medio)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179.14 kg/ha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33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RMSE (Raíz del Error Cuadrático Medio)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263.01 kg/ha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9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R² (Coeficiente de Determinación)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0.8834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26843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221023E-1DD5-028A-F23D-CE2024E36E9E}"/>
              </a:ext>
            </a:extLst>
          </p:cNvPr>
          <p:cNvSpPr txBox="1"/>
          <p:nvPr/>
        </p:nvSpPr>
        <p:spPr>
          <a:xfrm>
            <a:off x="1141412" y="4208157"/>
            <a:ext cx="99059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El MAE indica que, en promedio, el modelo se equivoca por unos 179 kg/ha, lo cual es un margen de error bajo considerando los valores de rendimiento promedio (entre 1500 y 3000 kg/ha).</a:t>
            </a:r>
          </a:p>
          <a:p>
            <a:pPr algn="just"/>
            <a:r>
              <a:rPr lang="es-MX" dirty="0"/>
              <a:t>El RMSE, que penaliza más los errores grandes, también es bajo (263 kg/ha), lo que sugiere que no existen desviaciones extremas frecuentes.</a:t>
            </a:r>
          </a:p>
          <a:p>
            <a:pPr algn="just"/>
            <a:r>
              <a:rPr lang="es-MX" dirty="0"/>
              <a:t>El R² = 0.8834 significa que el modelo explica aproximadamente el 88% de la variabilidad del rendimiento real, lo que demuestra una alta capacidad predictiva y un buen ajuste general.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61791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002F-1898-128F-57BB-3D8FC876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46B1-DE1E-9AA9-7480-E6778AE4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Análisis de los Residuos del Modelo </a:t>
            </a:r>
            <a:r>
              <a:rPr lang="es-MX" dirty="0" err="1"/>
              <a:t>Random</a:t>
            </a:r>
            <a:r>
              <a:rPr lang="es-MX" dirty="0"/>
              <a:t> Forest</a:t>
            </a:r>
            <a:endParaRPr lang="es-AR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FC12C00-26CE-EFF5-CAD7-15083E1ED7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050788"/>
              </p:ext>
            </p:extLst>
          </p:nvPr>
        </p:nvGraphicFramePr>
        <p:xfrm>
          <a:off x="1141412" y="2097088"/>
          <a:ext cx="990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95702720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687286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Métrica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Valor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87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Media de errores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-3.01 kg/ha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33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Desviación estándar de errores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263.01 kg/ha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9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/>
                        <a:t>Predicciones con error &lt; 100 kg/ha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44.2%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268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Predicciones con error &lt; 200 kg/ha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68.7%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8210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34D707CB-1635-06CE-C421-A0C460C2772B}"/>
              </a:ext>
            </a:extLst>
          </p:cNvPr>
          <p:cNvSpPr txBox="1"/>
          <p:nvPr/>
        </p:nvSpPr>
        <p:spPr>
          <a:xfrm>
            <a:off x="1141414" y="4119667"/>
            <a:ext cx="99059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El análisis de residuos muestra que el modelo presenta una media de error cercana a cero, lo cual indica ausencia de sesgo sistemático (no tiende ni a sobrestimar ni a subestimar los rendimientos). La desviación estándar refleja que la mayoría de los errores se mantienen dentro de un rango razonable, coherente con el RMSE.</a:t>
            </a:r>
          </a:p>
          <a:p>
            <a:pPr algn="just"/>
            <a:r>
              <a:rPr lang="es-MX" dirty="0"/>
              <a:t>Además, casi el 70% de las predicciones se encuentran dentro de un margen de ±200 kg/ha, lo que evidencia alta precisión en la mayoría de los casos. La distribución de errores —como se observa en el histograma correspondiente— es simétrica y centrada en cero, lo que confirma que el modelo tiene un buen ajuste y errores aleatorios, sin patrones evidentes de sobreajuste o mala especificación.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16726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FAB69-67DD-701A-6E9E-363AEDE9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PRACTICO</a:t>
            </a:r>
            <a:endParaRPr lang="es-AR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139AF54-F742-AEB3-8B41-365CB38FD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496145"/>
              </p:ext>
            </p:extLst>
          </p:nvPr>
        </p:nvGraphicFramePr>
        <p:xfrm>
          <a:off x="1141413" y="1945640"/>
          <a:ext cx="52397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862">
                  <a:extLst>
                    <a:ext uri="{9D8B030D-6E8A-4147-A177-3AD203B41FA5}">
                      <a16:colId xmlns:a16="http://schemas.microsoft.com/office/drawing/2014/main" val="1057355087"/>
                    </a:ext>
                  </a:extLst>
                </a:gridCol>
                <a:gridCol w="2619862">
                  <a:extLst>
                    <a:ext uri="{9D8B030D-6E8A-4147-A177-3AD203B41FA5}">
                      <a16:colId xmlns:a16="http://schemas.microsoft.com/office/drawing/2014/main" val="1260575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VARIABLE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VALOR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70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AÑO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2024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96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PROVINCIA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BUENOS AIRES (ID 06)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44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SUPERFICIE SEMBRADA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50.000 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92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SUPERFICIE COSECHADA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48.000 ha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48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PRODUCCION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120.000 t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29083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F4A2E75-B3F8-0DCA-3EA7-7CC9267F3268}"/>
              </a:ext>
            </a:extLst>
          </p:cNvPr>
          <p:cNvSpPr txBox="1"/>
          <p:nvPr/>
        </p:nvSpPr>
        <p:spPr>
          <a:xfrm>
            <a:off x="1307691" y="4574472"/>
            <a:ext cx="449825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El modelo </a:t>
            </a:r>
            <a:r>
              <a:rPr lang="es-MX" dirty="0" err="1"/>
              <a:t>Random</a:t>
            </a:r>
            <a:r>
              <a:rPr lang="es-MX" dirty="0"/>
              <a:t> Forest predijo:</a:t>
            </a:r>
            <a:br>
              <a:rPr lang="es-MX" dirty="0"/>
            </a:br>
            <a:r>
              <a:rPr lang="es-MX" b="1" dirty="0"/>
              <a:t>Rendimiento predicho = 2.540,33 kg/ha</a:t>
            </a:r>
            <a:endParaRPr lang="es-MX" dirty="0"/>
          </a:p>
          <a:p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E08235-D061-806D-A423-041ADF8D21A5}"/>
              </a:ext>
            </a:extLst>
          </p:cNvPr>
          <p:cNvSpPr txBox="1"/>
          <p:nvPr/>
        </p:nvSpPr>
        <p:spPr>
          <a:xfrm>
            <a:off x="6784258" y="1903998"/>
            <a:ext cx="41000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Supongamos que el </a:t>
            </a:r>
            <a:r>
              <a:rPr lang="es-MX" b="1" dirty="0"/>
              <a:t>rendimiento real medido en campo</a:t>
            </a:r>
            <a:r>
              <a:rPr lang="es-MX" dirty="0"/>
              <a:t> para esa campaña fue de </a:t>
            </a:r>
            <a:r>
              <a:rPr lang="es-MX" b="1" dirty="0"/>
              <a:t>2.450 kg/ha</a:t>
            </a:r>
            <a:r>
              <a:rPr lang="es-MX" dirty="0"/>
              <a:t>.</a:t>
            </a:r>
            <a:br>
              <a:rPr lang="es-MX" dirty="0"/>
            </a:br>
            <a:r>
              <a:rPr lang="es-MX" dirty="0"/>
              <a:t>El </a:t>
            </a:r>
            <a:r>
              <a:rPr lang="es-MX" b="1" dirty="0"/>
              <a:t>error o residuo</a:t>
            </a:r>
            <a:r>
              <a:rPr lang="es-MX" dirty="0"/>
              <a:t> se calcula como:</a:t>
            </a:r>
          </a:p>
          <a:p>
            <a:endParaRPr lang="es-MX" dirty="0"/>
          </a:p>
          <a:p>
            <a:r>
              <a:rPr lang="es-MX" dirty="0"/>
              <a:t>Error=2.450−2.540,33=−90,33 kg/ha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Esto significa que el modelo </a:t>
            </a:r>
            <a:r>
              <a:rPr lang="es-MX" b="1" dirty="0"/>
              <a:t>sobreestimó el rendimiento en aproximadamente 90 kg/ha</a:t>
            </a:r>
            <a:r>
              <a:rPr lang="es-MX" dirty="0"/>
              <a:t>, lo cual es un error pequeño y está dentro del rango aceptable (menos de 200 kg/ha según el análisis de residuos).</a:t>
            </a:r>
          </a:p>
          <a:p>
            <a:endParaRPr lang="es-MX" dirty="0"/>
          </a:p>
          <a:p>
            <a:endParaRPr lang="es-MX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71109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777</TotalTime>
  <Words>1455</Words>
  <Application>Microsoft Office PowerPoint</Application>
  <PresentationFormat>Panorámica</PresentationFormat>
  <Paragraphs>69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Circuito</vt:lpstr>
      <vt:lpstr>Predicción del Rendimiento de Soja en Argentina</vt:lpstr>
      <vt:lpstr>El objetivo del proyecto es predecir el rendimiento de soja en Argentina utilizando información histórica sobre:</vt:lpstr>
      <vt:lpstr>Distribución del rendimiento antes y después de eliminar outliers</vt:lpstr>
      <vt:lpstr>Matriz de correlación entre variables</vt:lpstr>
      <vt:lpstr>Importancia de Variables en la Predicción de Rendimiento</vt:lpstr>
      <vt:lpstr>Predicciones vs Valores Reales</vt:lpstr>
      <vt:lpstr>Distribución de Errores de Predicción</vt:lpstr>
      <vt:lpstr>Evolución del Rendimiento Promedio de Soja por Año</vt:lpstr>
      <vt:lpstr>Distribución del Rendimiento por Provincia (Top 10)</vt:lpstr>
      <vt:lpstr>Análisis de las Métricas de Evaluación del Modelo Random Forest</vt:lpstr>
      <vt:lpstr>Análisis de los Residuos del Modelo Random Forest</vt:lpstr>
      <vt:lpstr>EJEMPLO PRACTICO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Silva</dc:creator>
  <cp:lastModifiedBy>Brian Silva</cp:lastModifiedBy>
  <cp:revision>1</cp:revision>
  <dcterms:created xsi:type="dcterms:W3CDTF">2025-11-07T23:18:36Z</dcterms:created>
  <dcterms:modified xsi:type="dcterms:W3CDTF">2025-11-08T12:15:38Z</dcterms:modified>
</cp:coreProperties>
</file>